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61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61912"/>
          </a:solidFill>
          <a:ln w="12700">
            <a:solidFill>
              <a:srgbClr val="A6191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950976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Colgate MaxFresh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444752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Demand Planning Storyboard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4672" y="2084832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Colgate-Palmolive Pakistan | MaxFresh Red Gel 125g | 12-week supply intelligence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04672" y="2615184"/>
            <a:ext cx="3749040" cy="0"/>
          </a:xfrm>
          <a:prstGeom prst="line">
            <a:avLst/>
          </a:prstGeom>
          <a:noFill/>
          <a:ln w="25400">
            <a:solidFill>
              <a:srgbClr val="F2B8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297180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1F3864"/>
          </a:solidFill>
          <a:ln w="12700">
            <a:solidFill>
              <a:srgbClr val="1F386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3063240"/>
            <a:ext cx="11612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FORECASTING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2221992" y="297180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58568" y="3063240"/>
            <a:ext cx="1069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VALIDATION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3639312" y="2971800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75888" y="3063240"/>
            <a:ext cx="1618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72033"/>
                </a:solidFill>
              </a:rPr>
              <a:t>DECISION SUPPORT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8366760" y="987552"/>
            <a:ext cx="2971800" cy="4553712"/>
          </a:xfrm>
          <a:prstGeom prst="roundRect">
            <a:avLst>
              <a:gd name="adj" fmla="val 2462"/>
            </a:avLst>
          </a:prstGeom>
          <a:solidFill>
            <a:srgbClr val="FFF5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1080" y="13441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Six-frame argument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68512" y="1856232"/>
            <a:ext cx="164592" cy="16459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79408" y="18379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</a:rPr>
              <a:t>01  Decision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668512" y="2359152"/>
            <a:ext cx="164592" cy="16459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234086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</a:rPr>
              <a:t>02  Demand Pattern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668512" y="2862072"/>
            <a:ext cx="164592" cy="16459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79408" y="284378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</a:rPr>
              <a:t>03  Model Choice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668512" y="3364992"/>
            <a:ext cx="164592" cy="164592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79408" y="334670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</a:rPr>
              <a:t>04  Drivers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668512" y="3867912"/>
            <a:ext cx="164592" cy="164592"/>
          </a:xfrm>
          <a:prstGeom prst="ellipse">
            <a:avLst/>
          </a:prstGeom>
          <a:solidFill>
            <a:srgbClr val="DA291C"/>
          </a:solidFill>
          <a:ln w="12700">
            <a:solidFill>
              <a:srgbClr val="DA291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79408" y="384962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</a:rPr>
              <a:t>05  Risk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668512" y="4370832"/>
            <a:ext cx="164592" cy="164592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79408" y="43525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</a:rPr>
              <a:t>06  Action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" y="58704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Mustafa Arif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4672" y="6163056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MGT-353 Supply Chain Analytics | Portfolio Milestone 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7432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FRAME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20624" y="512064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</a:rPr>
              <a:t>Decision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0624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How much Colgate MaxFresh should be committed for the next 12 weeks?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442448" y="274320"/>
            <a:ext cx="1234440" cy="402336"/>
          </a:xfrm>
          <a:prstGeom prst="roundRect">
            <a:avLst>
              <a:gd name="adj" fmla="val 15909"/>
            </a:avLst>
          </a:prstGeom>
          <a:solidFill>
            <a:srgbClr val="DA291C"/>
          </a:solidFill>
          <a:ln w="12700">
            <a:solidFill>
              <a:srgbClr val="DA291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42448" y="35661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" y="1225296"/>
            <a:ext cx="11356848" cy="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6583680"/>
            <a:ext cx="8412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67085"/>
                </a:solidFill>
              </a:rPr>
              <a:t>Mustafa Arif | MGT-353 Supply Chain Analytics | Colgate-Palmolive Pakistan — MaxFresh Red Gel 125g</a:t>
            </a:r>
            <a:endParaRPr lang="en-US" sz="630" dirty="0"/>
          </a:p>
        </p:txBody>
      </p:sp>
      <p:sp>
        <p:nvSpPr>
          <p:cNvPr id="10" name="Shape 8"/>
          <p:cNvSpPr/>
          <p:nvPr/>
        </p:nvSpPr>
        <p:spPr>
          <a:xfrm>
            <a:off x="594360" y="1481328"/>
            <a:ext cx="45720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0160">
            <a:solidFill>
              <a:srgbClr val="D9DD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8745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A291C"/>
                </a:solidFill>
              </a:rPr>
              <a:t>3.88M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987552" y="25603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667085"/>
                </a:solidFill>
              </a:rPr>
              <a:t>tubes expected over the next 12 weeks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987552" y="3063240"/>
            <a:ext cx="3337560" cy="29260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25112" y="3063240"/>
            <a:ext cx="438912" cy="29260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" y="3447288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E8B57"/>
                </a:solidFill>
              </a:rPr>
              <a:t>90% COMMIT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005072" y="3447288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F80ED"/>
                </a:solidFill>
              </a:rPr>
              <a:t>10% FLEX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68680" y="388620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A291C"/>
                </a:solidFill>
              </a:rPr>
              <a:t>Decision question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68680" y="4133088"/>
            <a:ext cx="38862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How much should be secured now versus kept flexible for promo upside and supply disruption?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32120" y="1481328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DD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32120" y="1481328"/>
            <a:ext cx="1737360" cy="5486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50992" y="1627632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667085"/>
                </a:solidFill>
              </a:rPr>
              <a:t>AVG / WEEK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650992" y="1819656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324K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50992" y="2148840"/>
            <a:ext cx="14996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tubes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7424928" y="1481328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DD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24928" y="1481328"/>
            <a:ext cx="1737360" cy="54864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43800" y="1627632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667085"/>
                </a:solidFill>
              </a:rPr>
              <a:t>PEAK WEEK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543800" y="1819656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2B84B"/>
                </a:solidFill>
              </a:rPr>
              <a:t>389K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543800" y="2148840"/>
            <a:ext cx="14996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19 Oct 2026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9317736" y="1481328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DD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17736" y="1481328"/>
            <a:ext cx="1737360" cy="54864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36608" y="1627632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667085"/>
                </a:solidFill>
              </a:rPr>
              <a:t>MODEL WAPE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9436608" y="1819656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DA291C"/>
                </a:solidFill>
              </a:rPr>
              <a:t>4.43%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436608" y="2148840"/>
            <a:ext cx="14996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holdout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5532120" y="2816352"/>
            <a:ext cx="5532120" cy="1444752"/>
          </a:xfrm>
          <a:prstGeom prst="roundRect">
            <a:avLst>
              <a:gd name="adj" fmla="val 5063"/>
            </a:avLst>
          </a:prstGeom>
          <a:solidFill>
            <a:srgbClr val="FFF0EF"/>
          </a:solidFill>
          <a:ln w="10160">
            <a:solidFill>
              <a:srgbClr val="D9DD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97296" y="3154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Management needs a procurement and replenishment commitment, not just a forecast.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5797296" y="3730752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The forecast sets the base plan; flexible volume and contingency rules determine whether the plan survives uncertainty.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94360" y="5806440"/>
            <a:ext cx="110185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160">
            <a:solidFill>
              <a:srgbClr val="D9DD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4360" y="5806440"/>
            <a:ext cx="73152" cy="502920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5961888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33"/>
                </a:solidFill>
              </a:rPr>
              <a:t>Frame 1 takeaway: plan around 3.88M tubes, but only commit 90% upfront.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7432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FRAME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20624" y="512064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</a:rPr>
              <a:t>Demand Pattern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0624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Weekly demand is promotion-sensitive, event-aware and availability constrained.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442448" y="274320"/>
            <a:ext cx="1234440" cy="402336"/>
          </a:xfrm>
          <a:prstGeom prst="roundRect">
            <a:avLst>
              <a:gd name="adj" fmla="val 15909"/>
            </a:avLst>
          </a:prstGeom>
          <a:solidFill>
            <a:srgbClr val="1F3864"/>
          </a:solidFill>
          <a:ln w="12700">
            <a:solidFill>
              <a:srgbClr val="1F386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42448" y="35661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" y="1225296"/>
            <a:ext cx="11356848" cy="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6583680"/>
            <a:ext cx="8412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67085"/>
                </a:solidFill>
              </a:rPr>
              <a:t>Mustafa Arif | MGT-353 Supply Chain Analytics | Colgate-Palmolive Pakistan — MaxFresh Red Gel 125g</a:t>
            </a:r>
            <a:endParaRPr lang="en-US" sz="630" dirty="0"/>
          </a:p>
        </p:txBody>
      </p:sp>
      <p:sp>
        <p:nvSpPr>
          <p:cNvPr id="10" name="Shape 8"/>
          <p:cNvSpPr/>
          <p:nvPr/>
        </p:nvSpPr>
        <p:spPr>
          <a:xfrm>
            <a:off x="594360" y="1417320"/>
            <a:ext cx="64008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0160">
            <a:solidFill>
              <a:srgbClr val="D9DD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6824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Demand signal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1938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Promotions create the clearest uplift; stockouts and disruption weeks suppress observed sales.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896112" y="2395728"/>
            <a:ext cx="5440680" cy="2331720"/>
          </a:xfrm>
          <a:prstGeom prst="rect">
            <a:avLst/>
          </a:prstGeom>
          <a:solidFill>
            <a:srgbClr val="FBFCFE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2862072"/>
            <a:ext cx="5440680" cy="0"/>
          </a:xfrm>
          <a:prstGeom prst="line">
            <a:avLst/>
          </a:prstGeom>
          <a:noFill/>
          <a:ln w="8890">
            <a:solidFill>
              <a:srgbClr val="E7EB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3328416"/>
            <a:ext cx="5440680" cy="0"/>
          </a:xfrm>
          <a:prstGeom prst="line">
            <a:avLst/>
          </a:prstGeom>
          <a:noFill/>
          <a:ln w="8890">
            <a:solidFill>
              <a:srgbClr val="E7EB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" y="3794760"/>
            <a:ext cx="5440680" cy="0"/>
          </a:xfrm>
          <a:prstGeom prst="line">
            <a:avLst/>
          </a:prstGeom>
          <a:noFill/>
          <a:ln w="8890">
            <a:solidFill>
              <a:srgbClr val="E7EB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4261104"/>
            <a:ext cx="5440680" cy="0"/>
          </a:xfrm>
          <a:prstGeom prst="line">
            <a:avLst/>
          </a:prstGeom>
          <a:noFill/>
          <a:ln w="8890">
            <a:solidFill>
              <a:srgbClr val="E7EB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6112" y="3748126"/>
            <a:ext cx="236551" cy="-606247"/>
          </a:xfrm>
          <a:prstGeom prst="line">
            <a:avLst/>
          </a:prstGeom>
          <a:noFill/>
          <a:ln w="21590">
            <a:solidFill>
              <a:srgbClr val="1F386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32663" y="3141878"/>
            <a:ext cx="236551" cy="373075"/>
          </a:xfrm>
          <a:prstGeom prst="line">
            <a:avLst/>
          </a:prstGeom>
          <a:noFill/>
          <a:ln w="21590">
            <a:solidFill>
              <a:srgbClr val="1F386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69215" y="3514954"/>
            <a:ext cx="236551" cy="-769468"/>
          </a:xfrm>
          <a:prstGeom prst="line">
            <a:avLst/>
          </a:prstGeom>
          <a:noFill/>
          <a:ln w="21590">
            <a:solidFill>
              <a:srgbClr val="1F386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05766" y="2745486"/>
            <a:ext cx="236551" cy="862736"/>
          </a:xfrm>
          <a:prstGeom prst="line">
            <a:avLst/>
          </a:prstGeom>
          <a:noFill/>
          <a:ln w="21590">
            <a:solidFill>
              <a:srgbClr val="1F386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42317" y="3608222"/>
            <a:ext cx="236551" cy="-209855"/>
          </a:xfrm>
          <a:prstGeom prst="line">
            <a:avLst/>
          </a:prstGeom>
          <a:noFill/>
          <a:ln w="21590">
            <a:solidFill>
              <a:srgbClr val="1F386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78869" y="3398368"/>
            <a:ext cx="236551" cy="-373075"/>
          </a:xfrm>
          <a:prstGeom prst="line">
            <a:avLst/>
          </a:prstGeom>
          <a:noFill/>
          <a:ln w="21590">
            <a:solidFill>
              <a:srgbClr val="1F386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15420" y="3025292"/>
            <a:ext cx="236551" cy="536296"/>
          </a:xfrm>
          <a:prstGeom prst="line">
            <a:avLst/>
          </a:prstGeom>
          <a:noFill/>
          <a:ln w="21590">
            <a:solidFill>
              <a:srgbClr val="1F386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1971" y="3561588"/>
            <a:ext cx="236551" cy="-979322"/>
          </a:xfrm>
          <a:prstGeom prst="line">
            <a:avLst/>
          </a:prstGeom>
          <a:noFill/>
          <a:ln w="21590">
            <a:solidFill>
              <a:srgbClr val="1F386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88522" y="2582266"/>
            <a:ext cx="236551" cy="1189177"/>
          </a:xfrm>
          <a:prstGeom prst="line">
            <a:avLst/>
          </a:prstGeom>
          <a:noFill/>
          <a:ln w="21590">
            <a:solidFill>
              <a:srgbClr val="1F386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25074" y="3771443"/>
            <a:ext cx="236551" cy="-396392"/>
          </a:xfrm>
          <a:prstGeom prst="line">
            <a:avLst/>
          </a:prstGeom>
          <a:noFill/>
          <a:ln w="21590">
            <a:solidFill>
              <a:srgbClr val="1F386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61625" y="3375050"/>
            <a:ext cx="236551" cy="-256489"/>
          </a:xfrm>
          <a:prstGeom prst="line">
            <a:avLst/>
          </a:prstGeom>
          <a:noFill/>
          <a:ln w="21590">
            <a:solidFill>
              <a:srgbClr val="1F386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98176" y="3118561"/>
            <a:ext cx="236551" cy="326441"/>
          </a:xfrm>
          <a:prstGeom prst="line">
            <a:avLst/>
          </a:prstGeom>
          <a:noFill/>
          <a:ln w="21590">
            <a:solidFill>
              <a:srgbClr val="1F386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34728" y="3445002"/>
            <a:ext cx="236551" cy="-536296"/>
          </a:xfrm>
          <a:prstGeom prst="line">
            <a:avLst/>
          </a:prstGeom>
          <a:noFill/>
          <a:ln w="21590">
            <a:solidFill>
              <a:srgbClr val="1F386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71279" y="2908706"/>
            <a:ext cx="236551" cy="676199"/>
          </a:xfrm>
          <a:prstGeom prst="line">
            <a:avLst/>
          </a:prstGeom>
          <a:noFill/>
          <a:ln w="21590">
            <a:solidFill>
              <a:srgbClr val="1F386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07830" y="3584905"/>
            <a:ext cx="236551" cy="-396392"/>
          </a:xfrm>
          <a:prstGeom prst="line">
            <a:avLst/>
          </a:prstGeom>
          <a:noFill/>
          <a:ln w="21590">
            <a:solidFill>
              <a:srgbClr val="1F386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44382" y="3188513"/>
            <a:ext cx="236551" cy="-559613"/>
          </a:xfrm>
          <a:prstGeom prst="line">
            <a:avLst/>
          </a:prstGeom>
          <a:noFill/>
          <a:ln w="21590">
            <a:solidFill>
              <a:srgbClr val="1F386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80933" y="2628900"/>
            <a:ext cx="236551" cy="1095908"/>
          </a:xfrm>
          <a:prstGeom prst="line">
            <a:avLst/>
          </a:prstGeom>
          <a:noFill/>
          <a:ln w="21590">
            <a:solidFill>
              <a:srgbClr val="1F386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17484" y="3724808"/>
            <a:ext cx="236551" cy="-396392"/>
          </a:xfrm>
          <a:prstGeom prst="line">
            <a:avLst/>
          </a:prstGeom>
          <a:noFill/>
          <a:ln w="21590">
            <a:solidFill>
              <a:srgbClr val="1F386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54035" y="3328416"/>
            <a:ext cx="236551" cy="-303124"/>
          </a:xfrm>
          <a:prstGeom prst="line">
            <a:avLst/>
          </a:prstGeom>
          <a:noFill/>
          <a:ln w="21590">
            <a:solidFill>
              <a:srgbClr val="1F386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90587" y="3025292"/>
            <a:ext cx="236551" cy="512978"/>
          </a:xfrm>
          <a:prstGeom prst="line">
            <a:avLst/>
          </a:prstGeom>
          <a:noFill/>
          <a:ln w="21590">
            <a:solidFill>
              <a:srgbClr val="1F386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27138" y="3538271"/>
            <a:ext cx="236551" cy="-792785"/>
          </a:xfrm>
          <a:prstGeom prst="line">
            <a:avLst/>
          </a:prstGeom>
          <a:noFill/>
          <a:ln w="21590">
            <a:solidFill>
              <a:srgbClr val="1F386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63689" y="2745486"/>
            <a:ext cx="236551" cy="699516"/>
          </a:xfrm>
          <a:prstGeom prst="line">
            <a:avLst/>
          </a:prstGeom>
          <a:noFill/>
          <a:ln w="21590">
            <a:solidFill>
              <a:srgbClr val="1F386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00241" y="3445002"/>
            <a:ext cx="236551" cy="-349758"/>
          </a:xfrm>
          <a:prstGeom prst="line">
            <a:avLst/>
          </a:prstGeom>
          <a:noFill/>
          <a:ln w="21590">
            <a:solidFill>
              <a:srgbClr val="1F386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3272" y="5020056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67085"/>
                </a:solidFill>
              </a:rPr>
              <a:t>Promo spikes  •  Ramadan/Eid movement  •  Stockout suppression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7315200" y="1417320"/>
            <a:ext cx="1737360" cy="932688"/>
          </a:xfrm>
          <a:prstGeom prst="roundRect">
            <a:avLst>
              <a:gd name="adj" fmla="val 7843"/>
            </a:avLst>
          </a:prstGeom>
          <a:solidFill>
            <a:srgbClr val="FFF0EF"/>
          </a:solidFill>
          <a:ln w="10160">
            <a:solidFill>
              <a:srgbClr val="D9DD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15200" y="1417320"/>
            <a:ext cx="1737360" cy="54864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34072" y="1563624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667085"/>
                </a:solidFill>
              </a:rPr>
              <a:t>PROMO LIFT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7434072" y="1755648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DA291C"/>
                </a:solidFill>
              </a:rPr>
              <a:t>visible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434072" y="2084832"/>
            <a:ext cx="14996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active weeks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9189720" y="1417320"/>
            <a:ext cx="1737360" cy="932688"/>
          </a:xfrm>
          <a:prstGeom prst="roundRect">
            <a:avLst>
              <a:gd name="adj" fmla="val 7843"/>
            </a:avLst>
          </a:prstGeom>
          <a:solidFill>
            <a:srgbClr val="FFF7E5"/>
          </a:solidFill>
          <a:ln w="10160">
            <a:solidFill>
              <a:srgbClr val="D9DDE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189720" y="1417320"/>
            <a:ext cx="1737360" cy="54864"/>
          </a:xfrm>
          <a:prstGeom prst="rect">
            <a:avLst/>
          </a:prstGeom>
          <a:solidFill>
            <a:srgbClr val="F08A5D"/>
          </a:solidFill>
          <a:ln w="12700">
            <a:solidFill>
              <a:srgbClr val="F08A5D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308592" y="1563624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667085"/>
                </a:solidFill>
              </a:rPr>
              <a:t>CV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9308592" y="1755648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08A5D"/>
                </a:solidFill>
              </a:rPr>
              <a:t>material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9308592" y="2084832"/>
            <a:ext cx="14996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weekly variability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7315200" y="2651760"/>
            <a:ext cx="3611880" cy="1508760"/>
          </a:xfrm>
          <a:prstGeom prst="roundRect">
            <a:avLst>
              <a:gd name="adj" fmla="val 4848"/>
            </a:avLst>
          </a:prstGeom>
          <a:solidFill>
            <a:srgbClr val="EFF4FF"/>
          </a:solidFill>
          <a:ln w="10160">
            <a:solidFill>
              <a:srgbClr val="D9DDE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52944" y="2907792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3864"/>
                </a:solidFill>
              </a:rPr>
              <a:t>Method implication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552944" y="318211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2033"/>
                </a:solidFill>
              </a:rPr>
              <a:t>A level-only model is too blunt. Model choice should reward methods that handle recent level, planned promotions and calendar movement without using future actual demand.</a:t>
            </a:r>
            <a:endParaRPr lang="en-US" sz="1120" dirty="0"/>
          </a:p>
        </p:txBody>
      </p:sp>
      <p:sp>
        <p:nvSpPr>
          <p:cNvPr id="55" name="Shape 53"/>
          <p:cNvSpPr/>
          <p:nvPr/>
        </p:nvSpPr>
        <p:spPr>
          <a:xfrm>
            <a:off x="594360" y="5806440"/>
            <a:ext cx="110185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160">
            <a:solidFill>
              <a:srgbClr val="D9DDE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94360" y="5806440"/>
            <a:ext cx="73152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2960" y="5961888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33"/>
                </a:solidFill>
              </a:rPr>
              <a:t>Frame 2 takeaway: demand is not random; promotion, calendar and availability signals must be incorporated carefully.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7432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FRAME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20624" y="512064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</a:rPr>
              <a:t>Model Choice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0624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Event+Promo-adjusted Holt earned trust on the same 12-week holdout.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442448" y="274320"/>
            <a:ext cx="1234440" cy="402336"/>
          </a:xfrm>
          <a:prstGeom prst="roundRect">
            <a:avLst>
              <a:gd name="adj" fmla="val 15909"/>
            </a:avLst>
          </a:prstGeom>
          <a:solidFill>
            <a:srgbClr val="DA291C"/>
          </a:solidFill>
          <a:ln w="12700">
            <a:solidFill>
              <a:srgbClr val="DA291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42448" y="35661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" y="1225296"/>
            <a:ext cx="11356848" cy="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6583680"/>
            <a:ext cx="8412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67085"/>
                </a:solidFill>
              </a:rPr>
              <a:t>Mustafa Arif | MGT-353 Supply Chain Analytics | Colgate-Palmolive Pakistan — MaxFresh Red Gel 125g</a:t>
            </a:r>
            <a:endParaRPr lang="en-US" sz="630" dirty="0"/>
          </a:p>
        </p:txBody>
      </p:sp>
      <p:sp>
        <p:nvSpPr>
          <p:cNvPr id="10" name="Shape 8"/>
          <p:cNvSpPr/>
          <p:nvPr/>
        </p:nvSpPr>
        <p:spPr>
          <a:xfrm>
            <a:off x="594360" y="1417320"/>
            <a:ext cx="56235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0160">
            <a:solidFill>
              <a:srgbClr val="D9DD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6916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Holdout WAPE ranking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" y="2148840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172033"/>
                </a:solidFill>
              </a:rPr>
              <a:t>Event+Promo Holt</a:t>
            </a:r>
            <a:endParaRPr lang="en-US" sz="770" dirty="0"/>
          </a:p>
        </p:txBody>
      </p:sp>
      <p:sp>
        <p:nvSpPr>
          <p:cNvPr id="13" name="Shape 11"/>
          <p:cNvSpPr/>
          <p:nvPr/>
        </p:nvSpPr>
        <p:spPr>
          <a:xfrm>
            <a:off x="2514600" y="2130552"/>
            <a:ext cx="552381" cy="164592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40133" y="214884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72033"/>
                </a:solidFill>
              </a:rPr>
              <a:t>4.4%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612648" y="2496312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172033"/>
                </a:solidFill>
              </a:rPr>
              <a:t>Holt Damped Trend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2514600" y="2478024"/>
            <a:ext cx="1608513" cy="164592"/>
          </a:xfrm>
          <a:prstGeom prst="rect">
            <a:avLst/>
          </a:prstGeom>
          <a:solidFill>
            <a:srgbClr val="9AA5B1"/>
          </a:solidFill>
          <a:ln w="12700">
            <a:solidFill>
              <a:srgbClr val="9AA5B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96265" y="2496312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72033"/>
                </a:solidFill>
              </a:rPr>
              <a:t>12.9%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612648" y="284378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172033"/>
                </a:solidFill>
              </a:rPr>
              <a:t>Event-adjusted Holt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2514600" y="2825496"/>
            <a:ext cx="1670858" cy="164592"/>
          </a:xfrm>
          <a:prstGeom prst="rect">
            <a:avLst/>
          </a:prstGeom>
          <a:solidFill>
            <a:srgbClr val="9AA5B1"/>
          </a:solidFill>
          <a:ln w="12700">
            <a:solidFill>
              <a:srgbClr val="9AA5B1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8610" y="284378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72033"/>
                </a:solidFill>
              </a:rPr>
              <a:t>13.4%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612648" y="3191256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172033"/>
                </a:solidFill>
              </a:rPr>
              <a:t>Holt-Winters</a:t>
            </a:r>
            <a:endParaRPr lang="en-US" sz="770" dirty="0"/>
          </a:p>
        </p:txBody>
      </p:sp>
      <p:sp>
        <p:nvSpPr>
          <p:cNvPr id="22" name="Shape 20"/>
          <p:cNvSpPr/>
          <p:nvPr/>
        </p:nvSpPr>
        <p:spPr>
          <a:xfrm>
            <a:off x="2514600" y="3172968"/>
            <a:ext cx="1945178" cy="164592"/>
          </a:xfrm>
          <a:prstGeom prst="rect">
            <a:avLst/>
          </a:prstGeom>
          <a:solidFill>
            <a:srgbClr val="9AA5B1"/>
          </a:solidFill>
          <a:ln w="12700">
            <a:solidFill>
              <a:srgbClr val="9AA5B1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32930" y="319125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72033"/>
                </a:solidFill>
              </a:rPr>
              <a:t>15.6%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612648" y="3538728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172033"/>
                </a:solidFill>
              </a:rPr>
              <a:t>SES α=0.3</a:t>
            </a:r>
            <a:endParaRPr lang="en-US" sz="770" dirty="0"/>
          </a:p>
        </p:txBody>
      </p:sp>
      <p:sp>
        <p:nvSpPr>
          <p:cNvPr id="25" name="Shape 23"/>
          <p:cNvSpPr/>
          <p:nvPr/>
        </p:nvSpPr>
        <p:spPr>
          <a:xfrm>
            <a:off x="2514600" y="3520440"/>
            <a:ext cx="2069869" cy="164592"/>
          </a:xfrm>
          <a:prstGeom prst="rect">
            <a:avLst/>
          </a:prstGeom>
          <a:solidFill>
            <a:srgbClr val="9AA5B1"/>
          </a:solidFill>
          <a:ln w="12700">
            <a:solidFill>
              <a:srgbClr val="9AA5B1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57621" y="353872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72033"/>
                </a:solidFill>
              </a:rPr>
              <a:t>16.6%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12648" y="3886200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172033"/>
                </a:solidFill>
              </a:rPr>
              <a:t>Moving Avg</a:t>
            </a:r>
            <a:endParaRPr lang="en-US" sz="770" dirty="0"/>
          </a:p>
        </p:txBody>
      </p:sp>
      <p:sp>
        <p:nvSpPr>
          <p:cNvPr id="28" name="Shape 26"/>
          <p:cNvSpPr/>
          <p:nvPr/>
        </p:nvSpPr>
        <p:spPr>
          <a:xfrm>
            <a:off x="2514600" y="3867912"/>
            <a:ext cx="2256905" cy="164592"/>
          </a:xfrm>
          <a:prstGeom prst="rect">
            <a:avLst/>
          </a:prstGeom>
          <a:solidFill>
            <a:srgbClr val="9AA5B1"/>
          </a:solidFill>
          <a:ln w="12700">
            <a:solidFill>
              <a:srgbClr val="9AA5B1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4657" y="388620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72033"/>
                </a:solidFill>
              </a:rPr>
              <a:t>18.1%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12648" y="4233672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172033"/>
                </a:solidFill>
              </a:rPr>
              <a:t>Naive</a:t>
            </a:r>
            <a:endParaRPr lang="en-US" sz="770" dirty="0"/>
          </a:p>
        </p:txBody>
      </p:sp>
      <p:sp>
        <p:nvSpPr>
          <p:cNvPr id="31" name="Shape 29"/>
          <p:cNvSpPr/>
          <p:nvPr/>
        </p:nvSpPr>
        <p:spPr>
          <a:xfrm>
            <a:off x="2514600" y="4215384"/>
            <a:ext cx="2431473" cy="164592"/>
          </a:xfrm>
          <a:prstGeom prst="rect">
            <a:avLst/>
          </a:prstGeom>
          <a:solidFill>
            <a:srgbClr val="9AA5B1"/>
          </a:solidFill>
          <a:ln w="12700">
            <a:solidFill>
              <a:srgbClr val="9AA5B1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19225" y="4233672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72033"/>
                </a:solidFill>
              </a:rPr>
              <a:t>19.5%</a:t>
            </a:r>
            <a:endParaRPr lang="en-US" sz="740" dirty="0"/>
          </a:p>
        </p:txBody>
      </p:sp>
      <p:sp>
        <p:nvSpPr>
          <p:cNvPr id="33" name="Text 31"/>
          <p:cNvSpPr/>
          <p:nvPr/>
        </p:nvSpPr>
        <p:spPr>
          <a:xfrm>
            <a:off x="612648" y="45811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172033"/>
                </a:solidFill>
              </a:rPr>
              <a:t>Seasonal Naive</a:t>
            </a:r>
            <a:endParaRPr lang="en-US" sz="770" dirty="0"/>
          </a:p>
        </p:txBody>
      </p:sp>
      <p:sp>
        <p:nvSpPr>
          <p:cNvPr id="34" name="Shape 32"/>
          <p:cNvSpPr/>
          <p:nvPr/>
        </p:nvSpPr>
        <p:spPr>
          <a:xfrm>
            <a:off x="2514600" y="4562856"/>
            <a:ext cx="2743200" cy="164592"/>
          </a:xfrm>
          <a:prstGeom prst="rect">
            <a:avLst/>
          </a:prstGeom>
          <a:solidFill>
            <a:srgbClr val="9AA5B1"/>
          </a:solidFill>
          <a:ln w="12700">
            <a:solidFill>
              <a:srgbClr val="9AA5B1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30952" y="458114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72033"/>
                </a:solidFill>
              </a:rPr>
              <a:t>22.0%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6629400" y="141732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0EF"/>
          </a:solidFill>
          <a:ln w="10160">
            <a:solidFill>
              <a:srgbClr val="D9DD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29400" y="1417320"/>
            <a:ext cx="1645920" cy="54864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48272" y="1563624"/>
            <a:ext cx="1408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667085"/>
                </a:solidFill>
              </a:rPr>
              <a:t>WAPE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748272" y="175564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DA291C"/>
                </a:solidFill>
              </a:rPr>
              <a:t>4.43%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748272" y="2084832"/>
            <a:ext cx="1408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holdout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8430768" y="141732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0160">
            <a:solidFill>
              <a:srgbClr val="D9DD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430768" y="1417320"/>
            <a:ext cx="1645920" cy="5486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49640" y="1563624"/>
            <a:ext cx="1408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667085"/>
                </a:solidFill>
              </a:rPr>
              <a:t>MAPE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8549640" y="175564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4.40%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8549640" y="2084832"/>
            <a:ext cx="1408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average miss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6629400" y="2542032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0160">
            <a:solidFill>
              <a:srgbClr val="D9DDE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629400" y="2542032"/>
            <a:ext cx="1645920" cy="54864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48272" y="2688336"/>
            <a:ext cx="1408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667085"/>
                </a:solidFill>
              </a:rPr>
              <a:t>MAD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748272" y="2880360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F80ED"/>
                </a:solidFill>
              </a:rPr>
              <a:t>14K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6748272" y="3209544"/>
            <a:ext cx="1408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tubes / week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8430768" y="2542032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7E5"/>
          </a:solidFill>
          <a:ln w="10160">
            <a:solidFill>
              <a:srgbClr val="D9DDE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430768" y="2542032"/>
            <a:ext cx="1645920" cy="54864"/>
          </a:xfrm>
          <a:prstGeom prst="rect">
            <a:avLst/>
          </a:prstGeom>
          <a:solidFill>
            <a:srgbClr val="F08A5D"/>
          </a:solidFill>
          <a:ln w="12700">
            <a:solidFill>
              <a:srgbClr val="F08A5D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49640" y="2688336"/>
            <a:ext cx="1408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667085"/>
                </a:solidFill>
              </a:rPr>
              <a:t>TRACKING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549640" y="2880360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08A5D"/>
                </a:solidFill>
              </a:rPr>
              <a:t>-0.86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8549640" y="3209544"/>
            <a:ext cx="1408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acceptable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6629400" y="3794760"/>
            <a:ext cx="4069080" cy="1234440"/>
          </a:xfrm>
          <a:prstGeom prst="roundRect">
            <a:avLst>
              <a:gd name="adj" fmla="val 5926"/>
            </a:avLst>
          </a:prstGeom>
          <a:solidFill>
            <a:srgbClr val="FFF7E5"/>
          </a:solidFill>
          <a:ln w="10160">
            <a:solidFill>
              <a:srgbClr val="D9DDE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85432" y="400507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8A5D"/>
                </a:solidFill>
              </a:rPr>
              <a:t>Leakage control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885432" y="4251960"/>
            <a:ext cx="3520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33"/>
                </a:solidFill>
              </a:rPr>
              <a:t>Planned promotion/event flags are treated as known calendar inputs at forecast origin. Holdout actual demand is not used to fit or recursively update the model.</a:t>
            </a:r>
            <a:endParaRPr lang="en-US" sz="1080" dirty="0"/>
          </a:p>
        </p:txBody>
      </p:sp>
      <p:sp>
        <p:nvSpPr>
          <p:cNvPr id="59" name="Shape 57"/>
          <p:cNvSpPr/>
          <p:nvPr/>
        </p:nvSpPr>
        <p:spPr>
          <a:xfrm>
            <a:off x="594360" y="5806440"/>
            <a:ext cx="110185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160">
            <a:solidFill>
              <a:srgbClr val="D9DDE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94360" y="5806440"/>
            <a:ext cx="73152" cy="502920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22960" y="5961888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33"/>
                </a:solidFill>
              </a:rPr>
              <a:t>Frame 3 takeaway: the chosen model is accurate enough to plan with, but its driver assumptions must remain transparent.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7432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FRAME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20624" y="512064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</a:rPr>
              <a:t>Drivers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0624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Regression suggests demand moves most with promotion, then events and distribution.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442448" y="274320"/>
            <a:ext cx="1234440" cy="402336"/>
          </a:xfrm>
          <a:prstGeom prst="roundRect">
            <a:avLst>
              <a:gd name="adj" fmla="val 15909"/>
            </a:avLst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42448" y="35661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" y="1225296"/>
            <a:ext cx="11356848" cy="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6583680"/>
            <a:ext cx="8412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67085"/>
                </a:solidFill>
              </a:rPr>
              <a:t>Mustafa Arif | MGT-353 Supply Chain Analytics | Colgate-Palmolive Pakistan — MaxFresh Red Gel 125g</a:t>
            </a:r>
            <a:endParaRPr lang="en-US" sz="630" dirty="0"/>
          </a:p>
        </p:txBody>
      </p:sp>
      <p:sp>
        <p:nvSpPr>
          <p:cNvPr id="10" name="Shape 8"/>
          <p:cNvSpPr/>
          <p:nvPr/>
        </p:nvSpPr>
        <p:spPr>
          <a:xfrm>
            <a:off x="594360" y="1417320"/>
            <a:ext cx="1101852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0160">
            <a:solidFill>
              <a:srgbClr val="D9DD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7007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Regression evidence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195681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085"/>
                </a:solidFill>
              </a:rPr>
              <a:t>R² = 64.4% | Adjusted R² = 63.4% | associations, not proven causal effects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68680" y="2487168"/>
            <a:ext cx="4663440" cy="987552"/>
          </a:xfrm>
          <a:prstGeom prst="roundRect">
            <a:avLst>
              <a:gd name="adj" fmla="val 7407"/>
            </a:avLst>
          </a:prstGeom>
          <a:solidFill>
            <a:srgbClr val="FFF0EF"/>
          </a:solidFill>
          <a:ln w="10160">
            <a:solidFill>
              <a:srgbClr val="D9DD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2487168"/>
            <a:ext cx="73152" cy="987552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2660904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667085"/>
                </a:solidFill>
              </a:rPr>
              <a:t>PROMOTION WEEK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1115568" y="28620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A291C"/>
                </a:solidFill>
              </a:rPr>
              <a:t>+89K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2441448" y="294436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</a:rPr>
              <a:t>tubes / week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15568" y="3191256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DA291C"/>
                </a:solidFill>
              </a:rPr>
              <a:t>p = 0.0000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5943600" y="2487168"/>
            <a:ext cx="4663440" cy="987552"/>
          </a:xfrm>
          <a:prstGeom prst="roundRect">
            <a:avLst>
              <a:gd name="adj" fmla="val 7407"/>
            </a:avLst>
          </a:prstGeom>
          <a:solidFill>
            <a:srgbClr val="FFF7E5"/>
          </a:solidFill>
          <a:ln w="10160">
            <a:solidFill>
              <a:srgbClr val="D9DD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2487168"/>
            <a:ext cx="73152" cy="987552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0488" y="2660904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667085"/>
                </a:solidFill>
              </a:rPr>
              <a:t>RAMADAN / EID WEEK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6190488" y="28620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B84B"/>
                </a:solidFill>
              </a:rPr>
              <a:t>+15K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516368" y="294436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</a:rPr>
              <a:t>tubes / week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90488" y="3191256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2B84B"/>
                </a:solidFill>
              </a:rPr>
              <a:t>p = 0.0433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868680" y="3712464"/>
            <a:ext cx="4663440" cy="987552"/>
          </a:xfrm>
          <a:prstGeom prst="roundRect">
            <a:avLst>
              <a:gd name="adj" fmla="val 7407"/>
            </a:avLst>
          </a:prstGeom>
          <a:solidFill>
            <a:srgbClr val="EFF4FF"/>
          </a:solidFill>
          <a:ln w="10160">
            <a:solidFill>
              <a:srgbClr val="D9DD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3712464"/>
            <a:ext cx="73152" cy="98755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15568" y="3886200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667085"/>
                </a:solidFill>
              </a:rPr>
              <a:t>+5K DISTRIBUTION POINTS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1115568" y="40873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80ED"/>
                </a:solidFill>
              </a:rPr>
              <a:t>+7K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2441448" y="416966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</a:rPr>
              <a:t>tubes / week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15568" y="441655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2F80ED"/>
                </a:solidFill>
              </a:rPr>
              <a:t>VIF caveat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5943600" y="3712464"/>
            <a:ext cx="4663440" cy="987552"/>
          </a:xfrm>
          <a:prstGeom prst="roundRect">
            <a:avLst>
              <a:gd name="adj" fmla="val 7407"/>
            </a:avLst>
          </a:prstGeom>
          <a:solidFill>
            <a:srgbClr val="F3F4F6"/>
          </a:solidFill>
          <a:ln w="10160">
            <a:solidFill>
              <a:srgbClr val="D9DD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712464"/>
            <a:ext cx="73152" cy="987552"/>
          </a:xfrm>
          <a:prstGeom prst="rect">
            <a:avLst/>
          </a:prstGeom>
          <a:solidFill>
            <a:srgbClr val="9AA5B1"/>
          </a:solidFill>
          <a:ln w="12700">
            <a:solidFill>
              <a:srgbClr val="9AA5B1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90488" y="3886200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667085"/>
                </a:solidFill>
              </a:rPr>
              <a:t>PRICE + PKR 10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6190488" y="40873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AA5B1"/>
                </a:solidFill>
              </a:rPr>
              <a:t>-2.5K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7516368" y="416966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</a:rPr>
              <a:t>tubes / week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90488" y="441655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AA5B1"/>
                </a:solidFill>
              </a:rPr>
              <a:t>p = 0.3429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868680" y="5001768"/>
            <a:ext cx="9966960" cy="411480"/>
          </a:xfrm>
          <a:prstGeom prst="roundRect">
            <a:avLst>
              <a:gd name="adj" fmla="val 17778"/>
            </a:avLst>
          </a:prstGeom>
          <a:solidFill>
            <a:srgbClr val="F8E9ED"/>
          </a:solidFill>
          <a:ln w="10160">
            <a:solidFill>
              <a:srgbClr val="D9DDE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60704" y="5120640"/>
            <a:ext cx="9509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72033"/>
                </a:solidFill>
              </a:rPr>
              <a:t>Caveat: omitted variables include competitor discounting, media spend, retailer inventory, rainfall/disruption, category growth and consumer income.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594360" y="5806440"/>
            <a:ext cx="110185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160">
            <a:solidFill>
              <a:srgbClr val="D9DD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4360" y="5806440"/>
            <a:ext cx="73152" cy="50292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5961888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33"/>
                </a:solidFill>
              </a:rPr>
              <a:t>Frame 4 takeaway: plan hardest around promotions; treat price and distribution coefficients carefully due to statistical caveats.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7432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FRAME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20624" y="512064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</a:rPr>
              <a:t>Risk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0624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The 90/10 policy absorbs normal demand risk, but not a severe two-week supply disruption.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442448" y="274320"/>
            <a:ext cx="1234440" cy="402336"/>
          </a:xfrm>
          <a:prstGeom prst="roundRect">
            <a:avLst>
              <a:gd name="adj" fmla="val 15909"/>
            </a:avLst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42448" y="35661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" y="1225296"/>
            <a:ext cx="11356848" cy="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6583680"/>
            <a:ext cx="8412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67085"/>
                </a:solidFill>
              </a:rPr>
              <a:t>Mustafa Arif | MGT-353 Supply Chain Analytics | Colgate-Palmolive Pakistan — MaxFresh Red Gel 125g</a:t>
            </a:r>
            <a:endParaRPr lang="en-US" sz="630" dirty="0"/>
          </a:p>
        </p:txBody>
      </p:sp>
      <p:sp>
        <p:nvSpPr>
          <p:cNvPr id="10" name="Shape 8"/>
          <p:cNvSpPr/>
          <p:nvPr/>
        </p:nvSpPr>
        <p:spPr>
          <a:xfrm>
            <a:off x="594360" y="1417320"/>
            <a:ext cx="64008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0160">
            <a:solidFill>
              <a:srgbClr val="D9DD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7099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Stress-test map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2927994"/>
            <a:ext cx="731520" cy="1781166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2699394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2033"/>
                </a:solidFill>
              </a:rPr>
              <a:t>3.49M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96112" y="4818888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72033"/>
                </a:solidFill>
              </a:rPr>
              <a:t>Downside -10%</a:t>
            </a:r>
            <a:endParaRPr lang="en-US" sz="710" dirty="0"/>
          </a:p>
        </p:txBody>
      </p:sp>
      <p:sp>
        <p:nvSpPr>
          <p:cNvPr id="15" name="Text 13"/>
          <p:cNvSpPr/>
          <p:nvPr/>
        </p:nvSpPr>
        <p:spPr>
          <a:xfrm>
            <a:off x="987552" y="512064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B998B"/>
                </a:solidFill>
              </a:rPr>
              <a:t>absorbed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2331720" y="2728952"/>
            <a:ext cx="731520" cy="19802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58568" y="2500352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2033"/>
                </a:solidFill>
              </a:rPr>
              <a:t>3.88M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30552" y="4818888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72033"/>
                </a:solidFill>
              </a:rPr>
              <a:t>Base</a:t>
            </a:r>
            <a:endParaRPr lang="en-US" sz="710" dirty="0"/>
          </a:p>
        </p:txBody>
      </p:sp>
      <p:sp>
        <p:nvSpPr>
          <p:cNvPr id="19" name="Text 17"/>
          <p:cNvSpPr/>
          <p:nvPr/>
        </p:nvSpPr>
        <p:spPr>
          <a:xfrm>
            <a:off x="2221992" y="512064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F3864"/>
                </a:solidFill>
              </a:rPr>
              <a:t>plan</a:t>
            </a:r>
            <a:endParaRPr lang="en-US" sz="730" dirty="0"/>
          </a:p>
        </p:txBody>
      </p:sp>
      <p:sp>
        <p:nvSpPr>
          <p:cNvPr id="20" name="Shape 18"/>
          <p:cNvSpPr/>
          <p:nvPr/>
        </p:nvSpPr>
        <p:spPr>
          <a:xfrm>
            <a:off x="3566160" y="2529911"/>
            <a:ext cx="731520" cy="2179249"/>
          </a:xfrm>
          <a:prstGeom prst="rect">
            <a:avLst/>
          </a:prstGeom>
          <a:solidFill>
            <a:srgbClr val="F08A5D"/>
          </a:solidFill>
          <a:ln w="12700">
            <a:solidFill>
              <a:srgbClr val="F08A5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3008" y="2301311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2033"/>
                </a:solidFill>
              </a:rPr>
              <a:t>4.27M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64992" y="4818888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72033"/>
                </a:solidFill>
              </a:rPr>
              <a:t>Upside +10%</a:t>
            </a:r>
            <a:endParaRPr lang="en-US" sz="710" dirty="0"/>
          </a:p>
        </p:txBody>
      </p:sp>
      <p:sp>
        <p:nvSpPr>
          <p:cNvPr id="23" name="Text 21"/>
          <p:cNvSpPr/>
          <p:nvPr/>
        </p:nvSpPr>
        <p:spPr>
          <a:xfrm>
            <a:off x="3456432" y="512064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08A5D"/>
                </a:solidFill>
              </a:rPr>
              <a:t>+388K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4800600" y="2637087"/>
            <a:ext cx="731520" cy="2072073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7448" y="2408487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2033"/>
                </a:solidFill>
              </a:rPr>
              <a:t>4.06M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99432" y="4818888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72033"/>
                </a:solidFill>
              </a:rPr>
              <a:t>Promo +15%</a:t>
            </a:r>
            <a:endParaRPr lang="en-US" sz="710" dirty="0"/>
          </a:p>
        </p:txBody>
      </p:sp>
      <p:sp>
        <p:nvSpPr>
          <p:cNvPr id="27" name="Text 25"/>
          <p:cNvSpPr/>
          <p:nvPr/>
        </p:nvSpPr>
        <p:spPr>
          <a:xfrm>
            <a:off x="4690872" y="512064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DA291C"/>
                </a:solidFill>
              </a:rPr>
              <a:t>+175K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7406640" y="141732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0160">
            <a:solidFill>
              <a:srgbClr val="D9DD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06640" y="1417320"/>
            <a:ext cx="73152" cy="9144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35240" y="1645920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667085"/>
                </a:solidFill>
              </a:rPr>
              <a:t>FLEXIBLE VOLUME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7635240" y="186537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</a:rPr>
              <a:t>388K tubes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7406640" y="260604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FF7E5"/>
          </a:solidFill>
          <a:ln w="10160">
            <a:solidFill>
              <a:srgbClr val="D9DD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06640" y="2606040"/>
            <a:ext cx="73152" cy="914400"/>
          </a:xfrm>
          <a:prstGeom prst="rect">
            <a:avLst/>
          </a:prstGeom>
          <a:solidFill>
            <a:srgbClr val="F08A5D"/>
          </a:solidFill>
          <a:ln w="12700">
            <a:solidFill>
              <a:srgbClr val="F08A5D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35240" y="2834640"/>
            <a:ext cx="2103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667085"/>
                </a:solidFill>
              </a:rPr>
              <a:t>PROMO +15% EXPOSURE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7635240" y="30540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8A5D"/>
                </a:solidFill>
              </a:rPr>
              <a:t>175K tubes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7406640" y="379476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FF0EF"/>
          </a:solidFill>
          <a:ln w="10160">
            <a:solidFill>
              <a:srgbClr val="D9DD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06640" y="3794760"/>
            <a:ext cx="73152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35240" y="402336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667085"/>
                </a:solidFill>
              </a:rPr>
              <a:t>2-WEEK SUPPLY LOSS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7635240" y="424281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</a:rPr>
              <a:t>647K tubes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7635240" y="4498848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requires separate cover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594360" y="5806440"/>
            <a:ext cx="110185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160">
            <a:solidFill>
              <a:srgbClr val="D9DD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4360" y="5806440"/>
            <a:ext cx="73152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5961888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33"/>
                </a:solidFill>
              </a:rPr>
              <a:t>Frame 5 takeaway: 10% flexibility covers demand upside, but severe supply risk requires a separate contingency.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7432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FRAME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20624" y="512064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</a:rPr>
              <a:t>Action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0624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Commit 3.49M tubes. Keep 0.39M flexible. Add separate disruption cover.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442448" y="274320"/>
            <a:ext cx="1234440" cy="402336"/>
          </a:xfrm>
          <a:prstGeom prst="roundRect">
            <a:avLst>
              <a:gd name="adj" fmla="val 15909"/>
            </a:avLst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42448" y="35661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" y="1225296"/>
            <a:ext cx="11356848" cy="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6583680"/>
            <a:ext cx="8412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67085"/>
                </a:solidFill>
              </a:rPr>
              <a:t>Mustafa Arif | MGT-353 Supply Chain Analytics | Colgate-Palmolive Pakistan — MaxFresh Red Gel 125g</a:t>
            </a:r>
            <a:endParaRPr lang="en-US" sz="630" dirty="0"/>
          </a:p>
        </p:txBody>
      </p:sp>
      <p:sp>
        <p:nvSpPr>
          <p:cNvPr id="10" name="Shape 8"/>
          <p:cNvSpPr/>
          <p:nvPr/>
        </p:nvSpPr>
        <p:spPr>
          <a:xfrm>
            <a:off x="594360" y="1417320"/>
            <a:ext cx="11018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9DD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7099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Operating policy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090672" y="1600200"/>
            <a:ext cx="1783080" cy="694944"/>
          </a:xfrm>
          <a:prstGeom prst="roundRect">
            <a:avLst>
              <a:gd name="adj" fmla="val 10526"/>
            </a:avLst>
          </a:prstGeom>
          <a:solidFill>
            <a:srgbClr val="F1FAF5"/>
          </a:solidFill>
          <a:ln w="10160">
            <a:solidFill>
              <a:srgbClr val="2E8B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773936"/>
            <a:ext cx="1655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667085"/>
                </a:solidFill>
              </a:rPr>
              <a:t>90% COMMITTED</a:t>
            </a:r>
            <a:endParaRPr lang="en-US" sz="670" dirty="0"/>
          </a:p>
        </p:txBody>
      </p:sp>
      <p:sp>
        <p:nvSpPr>
          <p:cNvPr id="14" name="Text 12"/>
          <p:cNvSpPr/>
          <p:nvPr/>
        </p:nvSpPr>
        <p:spPr>
          <a:xfrm>
            <a:off x="3154680" y="1956816"/>
            <a:ext cx="16550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8B57"/>
                </a:solidFill>
              </a:rPr>
              <a:t>3.49M tubes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120640" y="1600200"/>
            <a:ext cx="1783080" cy="694944"/>
          </a:xfrm>
          <a:prstGeom prst="roundRect">
            <a:avLst>
              <a:gd name="adj" fmla="val 10526"/>
            </a:avLst>
          </a:prstGeom>
          <a:solidFill>
            <a:srgbClr val="EFF4FF"/>
          </a:solidFill>
          <a:ln w="10160">
            <a:solidFill>
              <a:srgbClr val="2F80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84648" y="1773936"/>
            <a:ext cx="1655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667085"/>
                </a:solidFill>
              </a:rPr>
              <a:t>10% RESPONSIVE</a:t>
            </a:r>
            <a:endParaRPr lang="en-US" sz="670" dirty="0"/>
          </a:p>
        </p:txBody>
      </p:sp>
      <p:sp>
        <p:nvSpPr>
          <p:cNvPr id="17" name="Text 15"/>
          <p:cNvSpPr/>
          <p:nvPr/>
        </p:nvSpPr>
        <p:spPr>
          <a:xfrm>
            <a:off x="5184648" y="1956816"/>
            <a:ext cx="16550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80ED"/>
                </a:solidFill>
              </a:rPr>
              <a:t>0.39M tubes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50608" y="1600200"/>
            <a:ext cx="1783080" cy="694944"/>
          </a:xfrm>
          <a:prstGeom prst="roundRect">
            <a:avLst>
              <a:gd name="adj" fmla="val 10526"/>
            </a:avLst>
          </a:prstGeom>
          <a:solidFill>
            <a:srgbClr val="FFF7E5"/>
          </a:solidFill>
          <a:ln w="10160">
            <a:solidFill>
              <a:srgbClr val="F08A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14616" y="1773936"/>
            <a:ext cx="1655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667085"/>
                </a:solidFill>
              </a:rPr>
              <a:t>PROMO READINESS</a:t>
            </a:r>
            <a:endParaRPr lang="en-US" sz="670" dirty="0"/>
          </a:p>
        </p:txBody>
      </p:sp>
      <p:sp>
        <p:nvSpPr>
          <p:cNvPr id="20" name="Text 18"/>
          <p:cNvSpPr/>
          <p:nvPr/>
        </p:nvSpPr>
        <p:spPr>
          <a:xfrm>
            <a:off x="7214616" y="1956816"/>
            <a:ext cx="16550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8A5D"/>
                </a:solidFill>
              </a:rPr>
              <a:t>+175K tubes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80576" y="1600200"/>
            <a:ext cx="1783080" cy="694944"/>
          </a:xfrm>
          <a:prstGeom prst="roundRect">
            <a:avLst>
              <a:gd name="adj" fmla="val 10526"/>
            </a:avLst>
          </a:prstGeom>
          <a:solidFill>
            <a:srgbClr val="FFF0EF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44584" y="1773936"/>
            <a:ext cx="1655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667085"/>
                </a:solidFill>
              </a:rPr>
              <a:t>SEVERE SUPPLY COVER</a:t>
            </a:r>
            <a:endParaRPr lang="en-US" sz="670" dirty="0"/>
          </a:p>
        </p:txBody>
      </p:sp>
      <p:sp>
        <p:nvSpPr>
          <p:cNvPr id="23" name="Text 21"/>
          <p:cNvSpPr/>
          <p:nvPr/>
        </p:nvSpPr>
        <p:spPr>
          <a:xfrm>
            <a:off x="9244584" y="1956816"/>
            <a:ext cx="16550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392B"/>
                </a:solidFill>
              </a:rPr>
              <a:t>647K tubes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4360" y="2852928"/>
            <a:ext cx="6812280" cy="2057400"/>
          </a:xfrm>
          <a:prstGeom prst="roundRect">
            <a:avLst>
              <a:gd name="adj" fmla="val 3556"/>
            </a:avLst>
          </a:prstGeom>
          <a:solidFill>
            <a:srgbClr val="FFF0EF"/>
          </a:solidFill>
          <a:ln w="10160">
            <a:solidFill>
              <a:srgbClr val="D9DD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2852928"/>
            <a:ext cx="82296" cy="2057400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13639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A291C"/>
                </a:solidFill>
              </a:rPr>
              <a:t>Final recommendation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3493008"/>
            <a:ext cx="59893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172033"/>
                </a:solidFill>
              </a:rPr>
              <a:t>Use Event+Promo-adjusted Holt as the primary next-12-week planning forecast. Plan around 3.88M tubes, commit 3.49M now, retain 0.39M flexible, maintain +175K promotion readiness, and arrange 647K tubes of severe-disruption cover through safety stock or alternate supply.</a:t>
            </a:r>
            <a:endParaRPr lang="en-US" sz="1260" dirty="0"/>
          </a:p>
        </p:txBody>
      </p:sp>
      <p:sp>
        <p:nvSpPr>
          <p:cNvPr id="28" name="Shape 26"/>
          <p:cNvSpPr/>
          <p:nvPr/>
        </p:nvSpPr>
        <p:spPr>
          <a:xfrm>
            <a:off x="7726680" y="2852928"/>
            <a:ext cx="3474720" cy="2057400"/>
          </a:xfrm>
          <a:prstGeom prst="roundRect">
            <a:avLst>
              <a:gd name="adj" fmla="val 3556"/>
            </a:avLst>
          </a:prstGeom>
          <a:solidFill>
            <a:srgbClr val="FFF7E5"/>
          </a:solidFill>
          <a:ln w="10160">
            <a:solidFill>
              <a:srgbClr val="D9DD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26680" y="2852928"/>
            <a:ext cx="82296" cy="2057400"/>
          </a:xfrm>
          <a:prstGeom prst="rect">
            <a:avLst/>
          </a:prstGeom>
          <a:solidFill>
            <a:srgbClr val="F08A5D"/>
          </a:solidFill>
          <a:ln w="12700">
            <a:solidFill>
              <a:srgbClr val="F08A5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01000" y="31363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8A5D"/>
                </a:solidFill>
              </a:rPr>
              <a:t>Reforecast when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001000" y="3502152"/>
            <a:ext cx="269748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980" dirty="0">
                <a:solidFill>
                  <a:srgbClr val="172033"/>
                </a:solidFill>
              </a:rPr>
              <a:t>first two weeks deviate by &gt;10%</a:t>
            </a:r>
            <a:endParaRPr lang="en-US" sz="980" dirty="0"/>
          </a:p>
          <a:p>
            <a:r>
              <a:rPr lang="en-US" sz="980" dirty="0">
                <a:solidFill>
                  <a:srgbClr val="172033"/>
                </a:solidFill>
              </a:rPr>
              <a:t>Tracking Signal deteriorates materially</a:t>
            </a:r>
            <a:endParaRPr lang="en-US" sz="980" dirty="0"/>
          </a:p>
          <a:p>
            <a:r>
              <a:rPr lang="en-US" sz="980" dirty="0">
                <a:solidFill>
                  <a:srgbClr val="172033"/>
                </a:solidFill>
              </a:rPr>
              <a:t>supply disruption threatens more than one planned week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594360" y="5257800"/>
            <a:ext cx="11018520" cy="457200"/>
          </a:xfrm>
          <a:prstGeom prst="roundRect">
            <a:avLst>
              <a:gd name="adj" fmla="val 16000"/>
            </a:avLst>
          </a:prstGeom>
          <a:solidFill>
            <a:srgbClr val="DA291C"/>
          </a:solidFill>
          <a:ln w="10160">
            <a:solidFill>
              <a:srgbClr val="DA291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404104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</a:rPr>
              <a:t>Forecast accuracy sets the base plan; contingency design keeps the supply plan executable.</a:t>
            </a:r>
            <a:endParaRPr lang="en-US" sz="1240" dirty="0"/>
          </a:p>
        </p:txBody>
      </p:sp>
      <p:sp>
        <p:nvSpPr>
          <p:cNvPr id="34" name="Shape 32"/>
          <p:cNvSpPr/>
          <p:nvPr/>
        </p:nvSpPr>
        <p:spPr>
          <a:xfrm>
            <a:off x="594360" y="5806440"/>
            <a:ext cx="110185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160">
            <a:solidFill>
              <a:srgbClr val="D9DD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" y="5806440"/>
            <a:ext cx="73152" cy="5029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5961888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33"/>
                </a:solidFill>
              </a:rPr>
              <a:t>Frame 6 takeaway: the output is a procurement policy with triggers, not a static forecast number.</a:t>
            </a:r>
            <a:endParaRPr lang="en-US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MGT353 Supply Chain Analytics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Colgate MaxFresh Demand Planning Storyboard</dc:title>
  <dc:subject>MGT353 Forecasting Milestone 1</dc:subject>
  <dc:creator>Mustafa Arif</dc:creator>
  <cp:lastModifiedBy>Mustafa Arif</cp:lastModifiedBy>
  <cp:revision>1</cp:revision>
  <dcterms:created xsi:type="dcterms:W3CDTF">2026-10-05T15:49:38Z</dcterms:created>
  <dcterms:modified xsi:type="dcterms:W3CDTF">2026-10-05T15:49:38Z</dcterms:modified>
</cp:coreProperties>
</file>